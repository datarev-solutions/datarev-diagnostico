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relativo</c:v>
                </c:pt>
              </c:strCache>
            </c:strRef>
          </c:tx>
          <c:spPr>
            <a:solidFill>
              <a:srgbClr val="17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Publicidad pagada</c:v>
                  </c:pt>
                  <c:pt idx="1">
                    <c:v>SEO / GEO</c:v>
                  </c:pt>
                  <c:pt idx="2">
                    <c:v>Video</c:v>
                  </c:pt>
                  <c:pt idx="3">
                    <c:v>Investigación original</c:v>
                  </c:pt>
                  <c:pt idx="4">
                    <c:v>Liderazgo de opinión</c:v>
                  </c:pt>
                  <c:pt idx="5">
                    <c:v>Conferencias y ferias</c:v>
                  </c:pt>
                  <c:pt idx="6">
                    <c:v>Eventos propios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</c:v>
                </c:pt>
                <c:pt idx="1">
                  <c:v>62</c:v>
                </c:pt>
                <c:pt idx="2">
                  <c:v>70</c:v>
                </c:pt>
                <c:pt idx="3">
                  <c:v>82</c:v>
                </c:pt>
                <c:pt idx="4">
                  <c:v>88</c:v>
                </c:pt>
                <c:pt idx="5">
                  <c:v>96</c:v>
                </c:pt>
                <c:pt idx="6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AF1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4081F"/>
        </a:solidFill>
        <a:ln>
          <a:noFill/>
        </a:ln>
        <a:effectLst/>
      </c:spPr>
    </c:plotArea>
    <c:plotVisOnly val="1"/>
    <c:dispBlanksAs val="span"/>
  </c:chart>
  <c:spPr>
    <a:solidFill>
      <a:srgbClr val="0408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plan de crecimiento para DataRev. 15 laminas. La tesis central: el assessment no es motor de demanda, sino instrumento de investigacion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motor se agrego tras la observacion de Dante de que el analisis original lo subestimaba. Es correcto: estaba como una linea de la Fase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6596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DATAREV · DATA REVOLUTION · AGOSTO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crecimiento </a:t>
            </a:r>
            <a:pPr indent="0" marL="0">
              <a:buNone/>
            </a:pPr>
            <a:r>
              <a:rPr lang="en-US" sz="5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genera pipeline de verdad para una consultora boutique de datos e IA — y por qué el diagnóstico, solo, no lo va a hacer.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4315968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443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86384" y="4956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revisadas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75888" y="4315968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95344" y="4443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95344" y="4956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en el estudio 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84848" y="4315968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4304" y="4443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04304" y="4956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propuestos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High Growth Study 2026 · XPX/Hinge Referral Study · Forrester · 6Sense · G2 · Wynter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supuestos que hay que confirmar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tengo su facturación actual ni el presupuesto disponible. Si alguno de estos supuestos está mal, cambian las cifras — no la estrategia.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49240" cy="1133856"/>
          </a:xfrm>
          <a:prstGeom prst="roundRect">
            <a:avLst>
              <a:gd name="adj" fmla="val 8065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768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Etapa temprana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5968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DataRev opera desde ~mediados de 2026. El activo es la credibilidad del equipo, no una cartera existente.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44768" y="2121408"/>
            <a:ext cx="5349240" cy="1133856"/>
          </a:xfrm>
          <a:prstGeom prst="roundRect">
            <a:avLst>
              <a:gd name="adj" fmla="val 8065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22768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Presupuesto acotado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82512" y="25968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USD 5K/mes para adquisición en los primeros meses. El plan prioriza lo orgánico.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419856"/>
            <a:ext cx="5349240" cy="1133856"/>
          </a:xfrm>
          <a:prstGeom prst="roundRect">
            <a:avLst>
              <a:gd name="adj" fmla="val 8065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Restricción = demanda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389534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 es que no llegan suficientes prospectos, no la capacidad de entrega.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3419856"/>
            <a:ext cx="5349240" cy="1133856"/>
          </a:xfrm>
          <a:prstGeom prst="roundRect">
            <a:avLst>
              <a:gd name="adj" fmla="val 8065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Capacidad de entrega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82512" y="389534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socios senior pueden absorber 6–10 proyectos simultáneos antes de contratar.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901184"/>
            <a:ext cx="11027664" cy="914400"/>
          </a:xfrm>
          <a:prstGeom prst="roundRect">
            <a:avLst>
              <a:gd name="adj" fmla="val 10000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01184"/>
            <a:ext cx="11027664" cy="914400"/>
          </a:xfrm>
          <a:prstGeom prst="roundRect">
            <a:avLst>
              <a:gd name="adj" fmla="val 10000"/>
            </a:avLst>
          </a:prstGeom>
          <a:solidFill>
            <a:srgbClr val="2A1418"/>
          </a:solidFill>
          <a:ln w="15875">
            <a:solidFill>
              <a:srgbClr val="E667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1023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supuesto 3 es falso </a:t>
            </a:r>
            <a:pPr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—si llegan prospectos y no cierran— este plan está mal ordenado: meter más leads arriba desperdiciaría dinero. Primero se arregla la conversión.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 CONTRARIA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assessment </a:t>
            </a:r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motor de demanda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intuición de que el diagnóstico traería clientes es razonable, pero la evidencia la contradice de forma bastante directa.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93008" cy="2121408"/>
          </a:xfrm>
          <a:prstGeom prst="roundRect">
            <a:avLst>
              <a:gd name="adj" fmla="val 4310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9626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compradores B2B considera confiable el sitio web de un proveedor.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Buyer Behavior Report,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084832"/>
            <a:ext cx="3493008" cy="2121408"/>
          </a:xfrm>
          <a:prstGeom prst="roundRect">
            <a:avLst>
              <a:gd name="adj" fmla="val 4310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22677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35424" y="29626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el boca en boca como el canal #1 que mete a un proveedor en la lista corta.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35424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Wynter, encuesta a CMOs B2B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91856" y="2084832"/>
            <a:ext cx="3493008" cy="2121408"/>
          </a:xfrm>
          <a:prstGeom prst="roundRect">
            <a:avLst>
              <a:gd name="adj" fmla="val 4310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22677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47888" y="29626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aporta la publicidad pagada. El outbound en frío, otro 2%.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Wynter, misma encuesta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6177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las fuentes: </a:t>
            </a:r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que circulan de que los quizzes convierten al 42–79% vienen casi todas de vendedores de software de quizzes. No encontré ningún estudio independiente que las respalde para servicios de ticket alto. Trátenlas como marketing, no como evidencia.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SÍ SIRVE, PERO PARA OTRA COSA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usos legítimos del diagnóstico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75104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0B1C57"/>
          </a:solidFill>
          <a:ln w="12700">
            <a:solidFill>
              <a:srgbClr val="2439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antes de la llamada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la primera conversación sabiendo el nivel de madurez acorta el ciclo y evita reuniones con quien no tiene presupuesto.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1975104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0B1C57"/>
          </a:solidFill>
          <a:ln w="12700">
            <a:solidFill>
              <a:srgbClr val="2439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35424" y="23774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Excusa legítima para contactar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escribirle a toda la red sin que sea una venta: “te comparto un diagnóstico, dime si el resultado te hace sentido”.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975104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4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47888" y="23774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datos propios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diagnóstico contestado es un dato. 200 diagnósticos son un estudio que nadie más en México tiene. Ahí está el 10x.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709160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original aparece entre las técnicas de mayor impacto del estudio Hinge 2026.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DataRev ya construyó el instrumento para generarla — sólo lo estaba usando para lo que menos rinde.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HIGH GROWTH STUDY 2026 · 495 FIRMAS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usan las firmas que sí crecen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 en 11 ediciones, organizar eventos propios encabeza la lista de impacto.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20240"/>
          <a:ext cx="11027664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relativo de impacto reportado en Hinge 2026. Las barras ilustran el ranking, no una escala numérica publicada.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ORDENA TODO LO DEMÁS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partida se gana </a:t>
            </a:r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RFP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568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852928" y="20116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comités de compra arma y ordena su lista corta antes de contactar a cualquier proveedor.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52928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6Sense,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44768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568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430768" y="20116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veces gana el que quedó en primer lugar de esa lista.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30768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6Sense, 2025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3886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encontró además que el 92% de los compradores empieza con al menos un proveedor ya en mente. Cuando llega el RFP, la decisión está tomada en un 80%.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54880"/>
            <a:ext cx="11027664" cy="960120"/>
          </a:xfrm>
          <a:prstGeom prst="roundRect">
            <a:avLst>
              <a:gd name="adj" fmla="val 952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97433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para DataRev: </a:t>
            </a:r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es responder RFPs ni capturar leads. Es estar en la cabeza del comprador meses antes de que exista el proyecto.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DOMINANTE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el 60% del negocio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canal que más pesa — y casi nadie lo sistematiza.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20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86384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 llega por referencia para más de la mitad de los consultores.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755648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920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75304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 satisfechos está dispuesto a referir.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755648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920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64224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 lo hace. Ahí está la fuga.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33688" y="1755648"/>
            <a:ext cx="2578608" cy="1737360"/>
          </a:xfrm>
          <a:prstGeom prst="roundRect">
            <a:avLst>
              <a:gd name="adj" fmla="val 5263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3144" y="1920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53144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dispara una referencia es expertise visible.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767328"/>
            <a:ext cx="11027664" cy="1572768"/>
          </a:xfrm>
          <a:prstGeom prst="roundRect">
            <a:avLst>
              <a:gd name="adj" fmla="val 581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9502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reciprocidad es medible: r = +0.72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3342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referencias hechas y recibidas. El participante promedio recibió 9 referencias en 6 meses; </a:t>
            </a:r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 20% de los que más refieren recibió más de 24</a:t>
            </a:r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Referir primero no es cortesía: es el mecanismo.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502920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XPX &amp; Hinge Referral Marketing Study · 262 participantes, 25.6% consultores · Texas Tech (83%/29%)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ARITMÉTICA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no sale de 10x más llamadas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multiplicar dos factores modestos. Es la única forma realista con un equipo de cinco socios.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+ productización. El 57% de los especialistas cobra por valor, contra 29% de los generalistas.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92024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084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35424" y="23591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35424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clientes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33649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referencias + expertise visible + eventos. Sin equipo comercial grande.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92024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084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47888" y="23591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47888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18 meses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33649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retención y expansión de cuenta, el compuesto es mayor.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526280"/>
            <a:ext cx="11027664" cy="1207008"/>
          </a:xfrm>
          <a:prstGeom prst="roundRect">
            <a:avLst>
              <a:gd name="adj" fmla="val 7576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709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benchmark confirma dónde está la palanca: </a:t>
            </a:r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profesionales tiene la tasa de cierre más alta (28%) y el ciclo más corto (51 días) de todo B2B, pero la velocidad de pipeline más baja — por ticket promedio de USD 8,900. </a:t>
            </a:r>
            <a:pPr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cerrar. Es el tamaño del trato.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motores, en este orden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048256" cy="2697480"/>
          </a:xfrm>
          <a:prstGeom prst="roundRect">
            <a:avLst>
              <a:gd name="adj" fmla="val 446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56816"/>
            <a:ext cx="420624" cy="420624"/>
          </a:xfrm>
          <a:prstGeom prst="ellipse">
            <a:avLst/>
          </a:prstGeom>
          <a:solidFill>
            <a:srgbClr val="1763F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299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505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visible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3127248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Google, Santander, Nemak, AB InBev. Está en un PDF, no en el mercado.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98064" y="1783080"/>
            <a:ext cx="2048256" cy="2697480"/>
          </a:xfrm>
          <a:prstGeom prst="roundRect">
            <a:avLst>
              <a:gd name="adj" fmla="val 446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1956816"/>
            <a:ext cx="420624" cy="420624"/>
          </a:xfrm>
          <a:prstGeom prst="ellipse">
            <a:avLst/>
          </a:prstGeom>
          <a:solidFill>
            <a:srgbClr val="17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20299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2505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referencias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9232" y="3127248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explícito de pedir y dar. Cierra la fuga del 83% → 29%.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2048256" cy="2697480"/>
          </a:xfrm>
          <a:prstGeom prst="roundRect">
            <a:avLst>
              <a:gd name="adj" fmla="val 446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956816"/>
            <a:ext cx="420624" cy="42062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20299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2505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cloud certificado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30368" y="3127248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Microsoft y Google asignan casos a socios certificados. Empieza ya, no en la Fase 3.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0336" y="1783080"/>
            <a:ext cx="2048256" cy="2697480"/>
          </a:xfrm>
          <a:prstGeom prst="roundRect">
            <a:avLst>
              <a:gd name="adj" fmla="val 446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1956816"/>
            <a:ext cx="420624" cy="420624"/>
          </a:xfrm>
          <a:prstGeom prst="ellipse">
            <a:avLst/>
          </a:prstGeom>
          <a:solidFill>
            <a:srgbClr val="17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61504" y="20299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61504" y="2505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original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3127248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“Estado de la Madurez de Datos e IA en México”. El diagnóstico deja de ser lead magnet.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91472" y="1783080"/>
            <a:ext cx="2048256" cy="2697480"/>
          </a:xfrm>
          <a:prstGeom prst="roundRect">
            <a:avLst>
              <a:gd name="adj" fmla="val 446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1956816"/>
            <a:ext cx="420624" cy="420624"/>
          </a:xfrm>
          <a:prstGeom prst="ellipse">
            <a:avLst/>
          </a:prstGeom>
          <a:solidFill>
            <a:srgbClr val="1763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20299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2505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y producto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92640" y="3127248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empaquetadas con precio y alcance cerrados. Sube el ticket sin subir horas.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4800600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motores 1, 2 y 3 producen pipeline en semanas con muy poco presupuesto. Los motores 4 y 5 son los que convierten ese pipeline en 10x, pero tardan meses en madurar.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03 · EL CANAL QUE NO ES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Certificarse hace que el proveedor </a:t>
            </a:r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asigne casos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Microsoft y Google tienen vendedores con cuota que necesitan socios certificados a quién referir la implementación. Estar en esa lista no se compra con pauta: se gana con certificaciones y casos entregados.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4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— APN Customer Engagements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090672"/>
            <a:ext cx="3035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co-venta donde no sólo compartes oportunidades: recibes las que origina AWS. Tu actividad alimenta un co-sell score que decide qué tan visible eres para sus vendedores.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2139696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2304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17136" y="25786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Partner Data &amp; 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17136" y="3090672"/>
            <a:ext cx="3035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entrar, sin mínimo de facturación. 40 de los 100 puntos vienen de certificaciones — la parte que no depende de tener clientes todavía.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1856" y="2139696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304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5786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Network (nuevo, Q1 2026)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3090672"/>
            <a:ext cx="3035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originación del lado del proveedor es proporcionalmente más común que en AWS o Microsoft, sobre todo en cargas de datos e IA.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590288"/>
            <a:ext cx="11027664" cy="960120"/>
          </a:xfrm>
          <a:prstGeom prst="roundRect">
            <a:avLst>
              <a:gd name="adj" fmla="val 952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77316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encaja: </a:t>
            </a:r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canal que ataca directamente el hallazgo del 94% — estar en el directorio de socios y en el radar de los vendedores del hiperescalador </a:t>
            </a:r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literalmente estar en la lista corta antes de que exista el RFP.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03 · LO CONCRETO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Select está a semanas, no a años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64208"/>
          <a:ext cx="110276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87168"/>
                <a:gridCol w="2487168"/>
                <a:gridCol w="24871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anual APN (USD)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Individuos acreditados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(2 téc + 2 neg)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(4 + 4)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 (10 + 10)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Certificados fundacionales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Certificados técnicos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(mín 3 prof.)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 (mín 10 prof.)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 lanzadas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(MRR ≥ 1,500)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 (MRR ≥ 10,000)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 (MRR ≥ 50,000)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Competencias 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26110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cinco socios que ya trabajan AWS a diario, el tier Select es cuestión de presentar exámenes.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barrera real no son las certificaciones: son las 3 oportunidades lanzadas con MRR ≥ USD 1,500.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4901184"/>
            <a:ext cx="11027664" cy="914400"/>
          </a:xfrm>
          <a:prstGeom prst="roundRect">
            <a:avLst>
              <a:gd name="adj" fmla="val 10000"/>
            </a:avLst>
          </a:prstGeom>
          <a:solidFill>
            <a:srgbClr val="2A1418"/>
          </a:solidFill>
          <a:ln w="15875">
            <a:solidFill>
              <a:srgbClr val="C98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5065776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trampa: </a:t>
            </a:r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programas escalan con oportunidades cerradas, no con certificaciones. Las certificaciones abren la puerta; los tiers altos exigen negocio real. Es un motor de aceleración, no de arranque — corre en paralelo a las referencias, no en su lugar.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AWS Services Partner Tiers (aws.amazon.com/partners/services-tiers), consultado 6-ago-2026.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fases, 18 meses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46504"/>
            <a:ext cx="201168" cy="20116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· SEMANAS 1–4 · FUNDAMENTOS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0976" y="199339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nicho declarado (recomendación: manufactura y consumo en México, donde el equipo ya tiene Nemak y AB InBev). Empaquetar 3 ofertas con precio cerrado. Publicar 3 casos con cifras. Instrumentar el CRM. Inscribirse a APN, MAICPP y Google Partner Network — los tres son gratis o baratos y el reloj de certificaciones empieza a correr.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880360"/>
            <a:ext cx="201168" cy="20116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8254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MESES 2–4 · REFERENCIAS, VISIBILIDAD Y CERTIFICACIÓN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312724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100 fuentes de referencia y rutina semanal de referir primero. Los 5 socios publicando en LinkedIn. Presentar exámenes: meta AWS Select y avanzar el Partner Capability Score de Microsoft. Registrar toda oportunidad en ACE desde el día uno.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014216"/>
            <a:ext cx="201168" cy="20116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959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MESES 4–8 · INVESTIGACIÓN, EVENTOS Y CO-VENTA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426110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200+ diagnósticos y publicar el primer estudio de madurez de datos e IA en México. Presentarlo en un evento propio y en 3 conferencias. Activar co-venta con los vendedores de AWS y Microsoft en la plaza.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48072"/>
            <a:ext cx="201168" cy="20116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5093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MESES 8–18 · ESCALA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53949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SDR. Ir por AWS Advanced y una Advanced Specialization de Microsoft (desbloquea ECIF). Cuentas enterprise multi-año. Segunda edición del estudio.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dueño de qué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27664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651760"/>
                <a:gridCol w="2651760"/>
                <a:gridCol w="179222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SEMANAL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Nicho, oferta y 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Jorge · 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Ernesto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de referencias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Jorge · 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socios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 c/u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 visible / LinkedIn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Ernesto · CPO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socios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 c/u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Estudio de madurez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Dante · CAIO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y conferencias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Ernesto · CPO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cloud y certificaciones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Alonso · 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(exámenes)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 + exámenes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Co-venta y registro en 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Jorge · 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y calidad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Alejandro · COO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y CRM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Alejandro · COO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semanal es el costo real del plan. Si los socios no pueden sostener estas horas mientras entregan proyectos, hay que contratar antes — o recortar el alcance.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cuesta, en dólares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27664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371600"/>
                <a:gridCol w="2377440"/>
                <a:gridCol w="2340864"/>
              </a:tblGrid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+ datos de contacto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de casos y ofertas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1,500–3,000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anual AWS Partner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 / año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Certificaciones (12–16 exámenes)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2,000–5,300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y edición de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Estudio de madurez (campo + diseño)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4,000–8,000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propio (60–80 asistentes)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5,000–9,000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Conferencias de industria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4,000–7,000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Pauta LinkedIn (retargeting del estudio)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1,000–2,500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 de tiempo completo (México)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1,800–3,000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29200"/>
            <a:ext cx="3493008" cy="1024128"/>
          </a:xfrm>
          <a:prstGeom prst="roundRect">
            <a:avLst>
              <a:gd name="adj" fmla="val 8929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5138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0–1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" y="5376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6384" y="5779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+ ~$8–11K de arranque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79392" y="5029200"/>
            <a:ext cx="3493008" cy="1024128"/>
          </a:xfrm>
          <a:prstGeom prst="roundRect">
            <a:avLst>
              <a:gd name="adj" fmla="val 8929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8848" y="5138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8848" y="5376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~$3.5K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498848" y="5779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+ ~$20K de eventos y estudio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991856" y="5029200"/>
            <a:ext cx="3493008" cy="1024128"/>
          </a:xfrm>
          <a:prstGeom prst="roundRect">
            <a:avLst>
              <a:gd name="adj" fmla="val 8929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5138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11312" y="5376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~$7K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211312" y="5779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con SDR y pauta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19963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Hinge 2026: las firmas de alto crecimiento invierten 12% de su facturación en marketing; las que no crecen, 5%.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SABREMOS SI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puntos de decisión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27664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965960"/>
                <a:gridCol w="1965960"/>
                <a:gridCol w="19751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Conversaciones calificadas / 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Referencias recibidas / semestre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promedio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Origen: referencia o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Certificaciones cloud del equipo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 registradas en 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referidos por el hiperescalador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AB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645152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82803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decisión, mes 6: 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referencias recibidas no llegaron a 9 por semestre, el problema no es de canal sino de entrega o posicionamiento. Parar la inversión en Fase 2 y arreglar eso primero.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“hoy” están vacíos a propósito: hay que llenarlos con datos reales de DataRev antes de comprometer presupuesto.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1901952"/>
          </a:xfrm>
          <a:prstGeom prst="roundRect">
            <a:avLst>
              <a:gd name="adj" fmla="val 4808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socios no sostienen las horas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riesgo número uno. Cuando entra un proyecto, marketing es lo primero que se cae.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en calendario tratados como entregable de cliente, y una sola persona (Ernesto) con autoridad para exigirlos.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4768" y="1783080"/>
            <a:ext cx="5349240" cy="1901952"/>
          </a:xfrm>
          <a:prstGeom prst="roundRect">
            <a:avLst>
              <a:gd name="adj" fmla="val 4808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más rápido de lo que se entrega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95144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en ventas sin equipo destruye la reputación — y la reputación es el canal.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abrir Fase 3 hasta tener banca de consultores o socios de entrega.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867912"/>
            <a:ext cx="5349240" cy="1901952"/>
          </a:xfrm>
          <a:prstGeom prst="roundRect">
            <a:avLst>
              <a:gd name="adj" fmla="val 4808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32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nicho elegido es muy chico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Especializarse sube el precio pero reduce el mercado direccionable.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965192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por problema (gobierno del dato, agentes en operación), no sólo por industria.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3867912"/>
            <a:ext cx="5349240" cy="1901952"/>
          </a:xfrm>
          <a:prstGeom prst="roundRect">
            <a:avLst>
              <a:gd name="adj" fmla="val 4808"/>
            </a:avLst>
          </a:prstGeom>
          <a:solidFill>
            <a:srgbClr val="08123A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032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no levanta muestra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379976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150–200 respuestas no hay estudio publicable.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4965192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pPr indent="0" marL="0">
              <a:buNone/>
            </a:pPr>
            <a:r>
              <a:rPr lang="en-US" sz="11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 la muestra vía aliados —cámaras industriales, AWS, universidades— antes de anunciarlo.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PRÓXIMOS 14 DÍAS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dónde empezar el lunes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408176"/>
          </a:xfrm>
          <a:prstGeom prst="roundRect">
            <a:avLst>
              <a:gd name="adj" fmla="val 649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83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Llenar los números vacíos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actual, ticket promedio, número de clientes, origen de cada uno. Sin esto, “10x” es una consigna.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· 2 días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4768" y="1737360"/>
            <a:ext cx="5349240" cy="1408176"/>
          </a:xfrm>
          <a:prstGeom prst="roundRect">
            <a:avLst>
              <a:gd name="adj" fmla="val 649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83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Declarar el nicho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que diga a quién sirven y qué problema resuelven. Someterla a 5 clientes potenciales.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27797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· 1 semana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5349240" cy="1408176"/>
          </a:xfrm>
          <a:prstGeom prst="roundRect">
            <a:avLst>
              <a:gd name="adj" fmla="val 649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Lista de 100 referidores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colegas de Amazon, Google, Santander, Nemak, AB InBev. Empezar refiriendo ustedes primero.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352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· 1 semana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3310128"/>
            <a:ext cx="5349240" cy="1408176"/>
          </a:xfrm>
          <a:prstGeom prst="roundRect">
            <a:avLst>
              <a:gd name="adj" fmla="val 6494"/>
            </a:avLst>
          </a:prstGeom>
          <a:solidFill>
            <a:srgbClr val="0B1C57"/>
          </a:solidFill>
          <a:ln w="15875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Inscribirse a los tres programas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7673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 de AWS, MAICPP de Microsoft y Google Partner Network. Dos son gratis. Agendar los primeros exámenes.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4352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Alonso · 1 semana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uno de los cuatro cuesta dinero. Los otros tres cuestan decidir.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6199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DataRev — Data Revolution · Tú lideras la Revolución. Nosotros la hacemos realidad.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DataRev · Plan de crecimiento 10x</dc:title>
  <dc:subject>PptxGenJS Presentation</dc:subject>
  <dc:creator>DataRev</dc:creator>
  <cp:lastModifiedBy>DataRev</cp:lastModifiedBy>
  <cp:revision>1</cp:revision>
  <dcterms:created xsi:type="dcterms:W3CDTF">2026-08-06T18:46:34Z</dcterms:created>
  <dcterms:modified xsi:type="dcterms:W3CDTF">2026-08-06T18:46:34Z</dcterms:modified>
</cp:coreProperties>
</file>