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Impacto relativo</c:v>
                </c:pt>
              </c:strCache>
            </c:strRef>
          </c:tx>
          <c:spPr>
            <a:solidFill>
              <a:srgbClr val="1763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Publicidad pagada</c:v>
                  </c:pt>
                  <c:pt idx="1">
                    <c:v>SEO / GEO</c:v>
                  </c:pt>
                  <c:pt idx="2">
                    <c:v>Video</c:v>
                  </c:pt>
                  <c:pt idx="3">
                    <c:v>Investigación original</c:v>
                  </c:pt>
                  <c:pt idx="4">
                    <c:v>Liderazgo de opinión</c:v>
                  </c:pt>
                  <c:pt idx="5">
                    <c:v>Conferencias y ferias</c:v>
                  </c:pt>
                  <c:pt idx="6">
                    <c:v>Eventos propios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24</c:v>
                </c:pt>
                <c:pt idx="1">
                  <c:v>62</c:v>
                </c:pt>
                <c:pt idx="2">
                  <c:v>70</c:v>
                </c:pt>
                <c:pt idx="3">
                  <c:v>82</c:v>
                </c:pt>
                <c:pt idx="4">
                  <c:v>88</c:v>
                </c:pt>
                <c:pt idx="5">
                  <c:v>96</c:v>
                </c:pt>
                <c:pt idx="6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AF1F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B87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4081F"/>
        </a:solidFill>
        <a:ln>
          <a:noFill/>
        </a:ln>
        <a:effectLst/>
      </c:spPr>
    </c:plotArea>
    <c:plotVisOnly val="1"/>
    <c:dispBlanksAs val="span"/>
  </c:chart>
  <c:spPr>
    <a:solidFill>
      <a:srgbClr val="04081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de plan de crecimiento para DataRev. 15 laminas. La tesis central: el assessment no es motor de demanda, sino instrumento de investigacion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96596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DATAREV · DATA REVOLUTION · AGOSTO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331720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crecimiento </a:t>
            </a:r>
            <a:pPr indent="0" marL="0">
              <a:buNone/>
            </a:pPr>
            <a:r>
              <a:rPr lang="en-US" sz="54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genera pipeline de verdad para una consultora boutique de datos e IA — y por qué el diagnóstico, solo, no lo va a hacer.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4315968"/>
            <a:ext cx="2834640" cy="1051560"/>
          </a:xfrm>
          <a:prstGeom prst="roundRect">
            <a:avLst>
              <a:gd name="adj" fmla="val 8696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44439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86384" y="495604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revisadas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75888" y="4315968"/>
            <a:ext cx="2834640" cy="1051560"/>
          </a:xfrm>
          <a:prstGeom prst="roundRect">
            <a:avLst>
              <a:gd name="adj" fmla="val 8696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95344" y="44439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895344" y="495604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firmas en el estudio base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784848" y="4315968"/>
            <a:ext cx="2834640" cy="1051560"/>
          </a:xfrm>
          <a:prstGeom prst="roundRect">
            <a:avLst>
              <a:gd name="adj" fmla="val 8696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04304" y="44439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004304" y="495604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motores propuestos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Hinge High Growth Study 2026 · XPX/Hinge Referral Study · Forrester · 6Sense · G2 · Wynter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supuestos que hay que confirmar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tengo su facturación actual ni el presupuesto disponible. Si alguno de estos supuestos está mal, cambian las cifras — no la estrategia.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21408"/>
            <a:ext cx="5349240" cy="1133856"/>
          </a:xfrm>
          <a:prstGeom prst="roundRect">
            <a:avLst>
              <a:gd name="adj" fmla="val 8065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2768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Etapa temprana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04672" y="2596896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DataRev opera desde ~mediados de 2026. El activo es la credibilidad del equipo, no una cartera existente.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44768" y="2121408"/>
            <a:ext cx="5349240" cy="1133856"/>
          </a:xfrm>
          <a:prstGeom prst="roundRect">
            <a:avLst>
              <a:gd name="adj" fmla="val 8065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82512" y="22768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Presupuesto acotado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382512" y="2596896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USD 5K/mes para adquisición en los primeros meses. El plan prioriza lo orgánico.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419856"/>
            <a:ext cx="5349240" cy="1133856"/>
          </a:xfrm>
          <a:prstGeom prst="roundRect">
            <a:avLst>
              <a:gd name="adj" fmla="val 8065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35753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Restricción = demanda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04672" y="3895344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cuello de botella es que no llegan suficientes prospectos, no la capacidad de entrega.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44768" y="3419856"/>
            <a:ext cx="5349240" cy="1133856"/>
          </a:xfrm>
          <a:prstGeom prst="roundRect">
            <a:avLst>
              <a:gd name="adj" fmla="val 8065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35753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Capacidad de entrega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382512" y="3895344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socios senior pueden absorber 6–10 proyectos simultáneos antes de contratar.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901184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4901184"/>
            <a:ext cx="11027664" cy="914400"/>
          </a:xfrm>
          <a:prstGeom prst="roundRect">
            <a:avLst>
              <a:gd name="adj" fmla="val 10000"/>
            </a:avLst>
          </a:prstGeom>
          <a:solidFill>
            <a:srgbClr val="2A1418"/>
          </a:solidFill>
          <a:ln w="15875">
            <a:solidFill>
              <a:srgbClr val="E6676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510235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supuesto 3 es falso </a:t>
            </a:r>
            <a:pPr indent="0" marL="0">
              <a:buNone/>
            </a:pPr>
            <a:r>
              <a:rPr lang="en-US" sz="13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—si llegan prospectos y no cierran— este plan está mal ordenado: meter más leads arriba desperdiciaría dinero. Primero se arregla la conversión.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TESIS CONTRARIA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assessment </a:t>
            </a:r>
            <a:pPr indent="0" marL="0">
              <a:buNone/>
            </a:pPr>
            <a:r>
              <a:rPr lang="en-US" sz="34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el motor de demanda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intuición de que el diagnóstico traería clientes es razonable, pero la evidencia la contradice de forma bastante directa.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3493008" cy="2121408"/>
          </a:xfrm>
          <a:prstGeom prst="roundRect">
            <a:avLst>
              <a:gd name="adj" fmla="val 4310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6771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96265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compradores B2B considera confiable el sitio web de un proveedor.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8039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 Buyer Behavior Report, 2024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79392" y="2084832"/>
            <a:ext cx="3493008" cy="2121408"/>
          </a:xfrm>
          <a:prstGeom prst="roundRect">
            <a:avLst>
              <a:gd name="adj" fmla="val 4310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226771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35424" y="296265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 el boca en boca como el canal #1 que mete a un proveedor en la lista corta.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35424" y="38039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Wynter, encuesta a CMOs B2B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991856" y="2084832"/>
            <a:ext cx="3493008" cy="2121408"/>
          </a:xfrm>
          <a:prstGeom prst="roundRect">
            <a:avLst>
              <a:gd name="adj" fmla="val 4310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47888" y="226771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67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47888" y="296265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que aporta la publicidad pagada. El outbound en frío, otro 2%.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38039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Wynter, misma encuesta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434840"/>
            <a:ext cx="11027664" cy="1170432"/>
          </a:xfrm>
          <a:prstGeom prst="roundRect">
            <a:avLst>
              <a:gd name="adj" fmla="val 7813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6177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Honestidad sobre las fuentes: </a:t>
            </a:r>
            <a:pPr indent="0" marL="0"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cifras que circulan de que los quizzes convierten al 42–79% vienen casi todas de vendedores de software de quizzes. No encontré ningún estudio independiente que las respalde para servicios de ticket alto. Trátenlas como marketing, no como evidencia.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ENTONCES SÍ SIRVE, PERO PARA OTRA COSA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usos legítimos del diagnóstico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493008" cy="2606040"/>
          </a:xfrm>
          <a:prstGeom prst="roundRect">
            <a:avLst>
              <a:gd name="adj" fmla="val 3509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75104"/>
            <a:ext cx="1234440" cy="274320"/>
          </a:xfrm>
          <a:prstGeom prst="roundRect">
            <a:avLst>
              <a:gd name="adj" fmla="val 46667"/>
            </a:avLst>
          </a:prstGeom>
          <a:solidFill>
            <a:srgbClr val="0B1C57"/>
          </a:solidFill>
          <a:ln w="12700">
            <a:solidFill>
              <a:srgbClr val="24397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8424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antes de la llamada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Llegar a la primera conversación sabiendo el nivel de madurez acorta el ciclo y evita reuniones con quien no tiene presupuesto.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79392" y="1783080"/>
            <a:ext cx="3493008" cy="2606040"/>
          </a:xfrm>
          <a:prstGeom prst="roundRect">
            <a:avLst>
              <a:gd name="adj" fmla="val 3509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1975104"/>
            <a:ext cx="1234440" cy="274320"/>
          </a:xfrm>
          <a:prstGeom prst="roundRect">
            <a:avLst>
              <a:gd name="adj" fmla="val 46667"/>
            </a:avLst>
          </a:prstGeom>
          <a:solidFill>
            <a:srgbClr val="0B1C57"/>
          </a:solidFill>
          <a:ln w="12700">
            <a:solidFill>
              <a:srgbClr val="2439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198424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35424" y="237744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Excusa legítima para contactar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35424" y="29260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escribirle a toda la red sin que sea una venta: “te comparto un diagnóstico, dime si el resultado te hace sentido”.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1856" y="1783080"/>
            <a:ext cx="3493008" cy="2606040"/>
          </a:xfrm>
          <a:prstGeom prst="roundRect">
            <a:avLst>
              <a:gd name="adj" fmla="val 3509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47888" y="1975104"/>
            <a:ext cx="1234440" cy="274320"/>
          </a:xfrm>
          <a:prstGeom prst="roundRect">
            <a:avLst>
              <a:gd name="adj" fmla="val 46667"/>
            </a:avLst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198424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40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GRANDE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47888" y="237744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Producir datos propios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47888" y="29260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diagnóstico contestado es un dato. 200 diagnósticos son un estudio que nadie más en México tiene. Ahí está el 10x.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4709160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investigación original aparece entre las técnicas de mayor impacto del estudio Hinge 2026. 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DataRev ya construyó el instrumento para generarla — sólo lo estaba usando para lo que menos rinde.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HINGE HIGH GROWTH STUDY 2026 · 495 FIRMAS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usan las firmas que sí crecen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primera vez en 11 ediciones, organizar eventos propios encabeza la lista de impacto.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920240"/>
          <a:ext cx="11027664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relativo de impacto reportado en Hinge 2026. Las barras ilustran el ranking, no una escala numérica publicada.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QUE ORDENA TODO LO DEMÁS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partida se gana </a:t>
            </a:r>
            <a:pPr indent="0" marL="0">
              <a:buNone/>
            </a:pPr>
            <a:r>
              <a:rPr lang="en-US" sz="34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RFP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95681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2852928" y="20116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comités de compra arma y ordena su lista corta antes de contactar a cualquier proveedor.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852928" y="31089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6Sense, 2025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144768" y="1783080"/>
            <a:ext cx="5349240" cy="1783080"/>
          </a:xfrm>
          <a:prstGeom prst="roundRect">
            <a:avLst>
              <a:gd name="adj" fmla="val 5128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7376" y="195681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8430768" y="201168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veces gana el que quedó en primer lugar de esa lista.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30768" y="31089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6Sense, 2025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6928" y="38862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Forrester encontró además que el 92% de los compradores empieza con al menos un proveedor ya en mente. Cuando llega el RFP, la decisión está tomada en un 80%.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54880"/>
            <a:ext cx="11027664" cy="960120"/>
          </a:xfrm>
          <a:prstGeom prst="roundRect">
            <a:avLst>
              <a:gd name="adj" fmla="val 952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97433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Implicación para DataRev: </a:t>
            </a:r>
            <a:pPr indent="0" marL="0">
              <a:buNone/>
            </a:pPr>
            <a:r>
              <a:rPr lang="en-US" sz="140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no es responder RFPs ni capturar leads. Es estar en la cabeza del comprador meses antes de que exista el proyecto.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DOMINANTE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Referencias: el 60% del negocio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canal que más pesa — y casi nadie lo sistematiza.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755648"/>
            <a:ext cx="2578608" cy="1737360"/>
          </a:xfrm>
          <a:prstGeom prst="roundRect">
            <a:avLst>
              <a:gd name="adj" fmla="val 5263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9202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86384" y="254203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negocio llega por referencia para más de la mitad de los consultores.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55848" y="1755648"/>
            <a:ext cx="2578608" cy="1737360"/>
          </a:xfrm>
          <a:prstGeom prst="roundRect">
            <a:avLst>
              <a:gd name="adj" fmla="val 5263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75304" y="19202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575304" y="254203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clientes satisfechos está dispuesto a referir.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44768" y="1755648"/>
            <a:ext cx="2578608" cy="1737360"/>
          </a:xfrm>
          <a:prstGeom prst="roundRect">
            <a:avLst>
              <a:gd name="adj" fmla="val 5263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9202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67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364224" y="254203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realmente lo hace. Ahí está la fuga.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33688" y="1755648"/>
            <a:ext cx="2578608" cy="1737360"/>
          </a:xfrm>
          <a:prstGeom prst="roundRect">
            <a:avLst>
              <a:gd name="adj" fmla="val 5263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53144" y="19202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27.4%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153144" y="2542032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 que dispara una referencia es expertise visible.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767328"/>
            <a:ext cx="11027664" cy="1572768"/>
          </a:xfrm>
          <a:prstGeom prst="roundRect">
            <a:avLst>
              <a:gd name="adj" fmla="val 581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3950208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reciprocidad es medible: r = +0.72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" y="4334256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entre referencias hechas y recibidas. El participante promedio recibió 9 referencias en 6 meses; </a:t>
            </a:r>
            <a:pPr indent="0" marL="0">
              <a:buNone/>
            </a:pPr>
            <a:r>
              <a:rPr lang="en-US" sz="12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top 20% de los que más refieren recibió más de 24</a:t>
            </a:r>
            <a:pPr indent="0" marL="0"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Referir primero no es cortesía: es el mecanismo.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59536" y="5029200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XPX &amp; Hinge Referral Marketing Study · 262 participantes, 25.6% consultores · Texas Tech (83%/29%)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ARITMÉTICA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no sale de 10x más llamadas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de multiplicar dos factores modestos. Es la única forma realista con un equipo de cinco socios.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3493008" cy="2331720"/>
          </a:xfrm>
          <a:prstGeom prst="roundRect">
            <a:avLst>
              <a:gd name="adj" fmla="val 3922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848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235915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3.0x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promedio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3649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Especialización + productización. El 57% de los especialistas cobra por valor, contra 29% de los generalistas.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79392" y="1920240"/>
            <a:ext cx="3493008" cy="2331720"/>
          </a:xfrm>
          <a:prstGeom prst="roundRect">
            <a:avLst>
              <a:gd name="adj" fmla="val 3922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20848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35424" y="235915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3.5x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535424" y="3017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clientes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35424" y="33649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referencias + expertise visible + eventos. Sin equipo comercial grande.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91856" y="1920240"/>
            <a:ext cx="3493008" cy="2331720"/>
          </a:xfrm>
          <a:prstGeom prst="roundRect">
            <a:avLst>
              <a:gd name="adj" fmla="val 3922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0848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47888" y="235915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10.5x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8247888" y="3017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18 meses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47888" y="33649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retención y expansión de cuenta, el compuesto es mayor.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526280"/>
            <a:ext cx="11027664" cy="1207008"/>
          </a:xfrm>
          <a:prstGeom prst="roundRect">
            <a:avLst>
              <a:gd name="adj" fmla="val 7576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" y="470916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benchmark confirma dónde está la palanca: </a:t>
            </a:r>
            <a:pPr indent="0" marL="0"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profesionales tiene la tasa de cierre más alta (28%) y el ciclo más corto (51 días) de todo B2B, pero la velocidad de pipeline más baja — por ticket promedio de USD 8,900. </a:t>
            </a:r>
            <a:pPr indent="0" marL="0">
              <a:buNone/>
            </a:pPr>
            <a:r>
              <a:rPr lang="en-US" sz="125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no es cerrar. Es el tamaño del trato.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motores, en este orden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975104"/>
            <a:ext cx="457200" cy="457200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57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0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5786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visible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3163824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Amazon, Google, Santander, Nemak, AB InBev. Es el activo más desperdiciado hoy: está en un PDF, no en el mercado.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55848" y="178308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93592" y="1975104"/>
            <a:ext cx="457200" cy="457200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11" name="Text 9"/>
          <p:cNvSpPr/>
          <p:nvPr/>
        </p:nvSpPr>
        <p:spPr>
          <a:xfrm>
            <a:off x="3593592" y="2057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0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93592" y="25786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referencias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93592" y="3163824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explícito de pedir y dar. Cierra la fuga del 83% → 29%.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44768" y="178308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2512" y="1975104"/>
            <a:ext cx="457200" cy="457200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2057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0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82512" y="25786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 original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82512" y="3163824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“Estado de la Madurez de Datos e IA en México”. El diagnóstico deja de ser lead magnet.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33688" y="1783080"/>
            <a:ext cx="2578608" cy="2651760"/>
          </a:xfrm>
          <a:prstGeom prst="roundRect">
            <a:avLst>
              <a:gd name="adj" fmla="val 3546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71432" y="1975104"/>
            <a:ext cx="457200" cy="457200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21" name="Text 19"/>
          <p:cNvSpPr/>
          <p:nvPr/>
        </p:nvSpPr>
        <p:spPr>
          <a:xfrm>
            <a:off x="9171432" y="2057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0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71432" y="25786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y producto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71432" y="3163824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 empaquetadas con precio y alcance cerrados. Sube el ticket sin subir las horas.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4754880"/>
            <a:ext cx="11027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importa: los motores 1 y 2 producen pipeline en semanas con casi cero presupuesto. Los motores 3 y 4 son los que convierten ese pipeline en 10x, pero tardan meses en madurar.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fases, 18 meses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46504"/>
            <a:ext cx="201168" cy="201168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5" name="Text 3"/>
          <p:cNvSpPr/>
          <p:nvPr/>
        </p:nvSpPr>
        <p:spPr>
          <a:xfrm>
            <a:off x="950976" y="1691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· SEMANAS 1–4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50976" y="1993392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un nicho declarado (recomendación: manufactura y consumo en México, donde el equipo ya tiene Nemak y AB InBev). Empaquetar 3 ofertas con precio cerrado. Publicar 3 casos de éxito con cifras. Instrumentar el CRM.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880360"/>
            <a:ext cx="201168" cy="201168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8" name="Text 6"/>
          <p:cNvSpPr/>
          <p:nvPr/>
        </p:nvSpPr>
        <p:spPr>
          <a:xfrm>
            <a:off x="950976" y="282549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MESES 2–4 · REFERENCIAS Y VISIBILIDAD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50976" y="312724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100 fuentes de referencia. Rutina semanal de referir primero. Los 5 socios publicando en LinkedIn con cadencia fija. Reactivar la red con el diagnóstico como excusa.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014216"/>
            <a:ext cx="201168" cy="201168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395935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MESES 4–8 · INVESTIGACIÓN Y EVENTOS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0976" y="4261104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200+ diagnósticos. Publicar el primer estudio de madurez de datos e IA en México. Presentarlo en un evento propio y en 3 conferencias de industria.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48072"/>
            <a:ext cx="201168" cy="201168"/>
          </a:xfrm>
          <a:prstGeom prst="ellipse">
            <a:avLst/>
          </a:prstGeom>
          <a:solidFill>
            <a:srgbClr val="00C2FF"/>
          </a:solidFill>
          <a:ln/>
        </p:spPr>
      </p:sp>
      <p:sp>
        <p:nvSpPr>
          <p:cNvPr id="14" name="Text 12"/>
          <p:cNvSpPr/>
          <p:nvPr/>
        </p:nvSpPr>
        <p:spPr>
          <a:xfrm>
            <a:off x="950976" y="509320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MESES 8–18 · ESCALA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50976" y="539496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SDR. Alianzas con AWS, Microsoft y Snowflake (co-venta y referidos). Cuentas enterprise multi-año. Segunda edición del estudio.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es dueño de qué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27664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651760"/>
                <a:gridCol w="2651760"/>
                <a:gridCol w="1792224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DUEÑO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APOYA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 SEMANAL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Nicho, oferta y precio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Jorge · CEO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Ernesto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Máquina de referencias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Jorge · CEO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los socios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h c/u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Expertise visible / LinkedIn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Ernesto · CPO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los socios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 c/u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Estudio de madurez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Dante · CAIO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Alonso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y conferencias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Ernesto · CPO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Alianzas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Alonso · CTO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Jorge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y calidad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Alejandro · COO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Alonso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 completo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Métricas y CRM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Alejandro · COO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compromiso semanal es el costo real del plan. Si los socios no pueden sostener estas horas mientras entregan proyectos, hay que contratar antes — o recortar el alcance.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cuesta, en dólares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19072"/>
          <a:ext cx="11027664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371600"/>
                <a:gridCol w="2377440"/>
                <a:gridCol w="2340864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USD/MES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VEZ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+ datos de contacto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150–400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de casos y ofertas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1,500–3,000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 y edición de video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800–1,500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Estudio de madurez (campo + diseño)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4,000–8,000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 propio (60–80 asistentes)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5,000–9,000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Conferencias de industria (3)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4,000–7,000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Pauta LinkedIn (retargeting del estudio)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1,000–2,500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SDR de tiempo completo (México)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1,800–3,000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645152"/>
            <a:ext cx="3493008" cy="1024128"/>
          </a:xfrm>
          <a:prstGeom prst="roundRect">
            <a:avLst>
              <a:gd name="adj" fmla="val 8929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" y="4754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0–1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86384" y="49926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~$1.5K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86384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USD/mes + ~$3K de arranque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79392" y="4645152"/>
            <a:ext cx="3493008" cy="1024128"/>
          </a:xfrm>
          <a:prstGeom prst="roundRect">
            <a:avLst>
              <a:gd name="adj" fmla="val 8929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98848" y="4754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98848" y="49926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~$3.5K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4498848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USD/mes + ~$20K de eventos y estudio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991856" y="4645152"/>
            <a:ext cx="3493008" cy="1024128"/>
          </a:xfrm>
          <a:prstGeom prst="roundRect">
            <a:avLst>
              <a:gd name="adj" fmla="val 8929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11312" y="4754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11312" y="49926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~$7K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211312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USD/mes con SDR y pauta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 de Hinge 2026: las firmas de alto crecimiento invierten 12% de su facturación en marketing; las que no crecen, 5%.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SABREMOS SI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y puntos de decisión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27664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965960"/>
                <a:gridCol w="1965960"/>
                <a:gridCol w="197510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 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 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Conversaciones calificadas / mes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Referencias recibidas / semestre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promedio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 de pipeline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Origen: referencia o 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Descargas del estudio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AAB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72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081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645152"/>
            <a:ext cx="11027664" cy="932688"/>
          </a:xfrm>
          <a:prstGeom prst="roundRect">
            <a:avLst>
              <a:gd name="adj" fmla="val 980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1248" y="482803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decisión, mes 6: </a:t>
            </a:r>
            <a:pPr indent="0" marL="0">
              <a:buNone/>
            </a:pPr>
            <a:r>
              <a:rPr lang="en-US" sz="130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las referencias recibidas no llegaron a 9 por semestre, el problema no es de canal sino de entrega o posicionamiento. Parar la inversión en Fase 2 y arreglar eso primero.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“hoy” están vacíos a propósito: hay que llenarlos con datos reales de DataRev antes de comprometer presupuesto.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puede salir mal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1901952"/>
          </a:xfrm>
          <a:prstGeom prst="roundRect">
            <a:avLst>
              <a:gd name="adj" fmla="val 4808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476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67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socios no sostienen las horas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295144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riesgo número uno. Cuando entra un proyecto, marketing es lo primero que se cae.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en calendario tratados como entregable de cliente, y una sola persona (Ernesto) con autoridad para exigirlos.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44768" y="1783080"/>
            <a:ext cx="5349240" cy="1901952"/>
          </a:xfrm>
          <a:prstGeom prst="roundRect">
            <a:avLst>
              <a:gd name="adj" fmla="val 4808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9476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67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Crecer más rápido de lo que se entrega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0" y="2295144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en ventas sin equipo destruye la reputación — y la reputación es el canal.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0" y="288036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abrir Fase 3 hasta tener banca de consultores o socios de entrega.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867912"/>
            <a:ext cx="5349240" cy="1901952"/>
          </a:xfrm>
          <a:prstGeom prst="roundRect">
            <a:avLst>
              <a:gd name="adj" fmla="val 4808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325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8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nicho elegido es muy chico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4379976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Especializarse sube el precio pero reduce el mercado direccionable.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965192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por problema (gobierno del dato, agentes en operación), no sólo por industria.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44768" y="3867912"/>
            <a:ext cx="5349240" cy="1901952"/>
          </a:xfrm>
          <a:prstGeom prst="roundRect">
            <a:avLst>
              <a:gd name="adj" fmla="val 4808"/>
            </a:avLst>
          </a:prstGeom>
          <a:solidFill>
            <a:srgbClr val="08123A"/>
          </a:solidFill>
          <a:ln w="12700">
            <a:solidFill>
              <a:srgbClr val="172A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40325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8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estudio no levanta muestra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0" y="4379976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150–200 respuestas no hay estudio publicable.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0" y="4965192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buNone/>
            </a:pPr>
            <a:r>
              <a:rPr lang="en-US" sz="110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Comprometer la muestra vía aliados —cámaras industriales, AWS, universidades— antes de anunciarlo.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PRÓXIMOS 14 DÍAS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dónde empezar el lunes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49240" cy="1408176"/>
          </a:xfrm>
          <a:prstGeom prst="roundRect">
            <a:avLst>
              <a:gd name="adj" fmla="val 649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Llenar los números vacíos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actual, ticket promedio, número de clientes, origen de cada uno. Sin esto, “10x” es una consigna.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7797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· 2 días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44768" y="1737360"/>
            <a:ext cx="5349240" cy="1408176"/>
          </a:xfrm>
          <a:prstGeom prst="roundRect">
            <a:avLst>
              <a:gd name="adj" fmla="val 649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Declarar el nicho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0" y="2194560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frase que diga a quién sirven y qué problema resuelven. Someterla a 5 clientes potenciales.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0" y="27797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· 1 semana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310128"/>
            <a:ext cx="5349240" cy="1408176"/>
          </a:xfrm>
          <a:prstGeom prst="roundRect">
            <a:avLst>
              <a:gd name="adj" fmla="val 649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456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Lista de 100 referidores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767328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colegas de Amazon, Google, Santander, Nemak, AB InBev. Empezar refiriendo ustedes primero.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35254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· 1 semana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44768" y="3310128"/>
            <a:ext cx="5349240" cy="1408176"/>
          </a:xfrm>
          <a:prstGeom prst="roundRect">
            <a:avLst>
              <a:gd name="adj" fmla="val 6494"/>
            </a:avLst>
          </a:prstGeom>
          <a:solidFill>
            <a:srgbClr val="0B1C57"/>
          </a:solidFill>
          <a:ln w="15875">
            <a:solidFill>
              <a:srgbClr val="00C2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456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Tres casos con cifras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0" y="3767328"/>
            <a:ext cx="4864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proyectos ya están en el deck. Falta convertirlos en casos publicables con números.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0" y="435254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Ernesto · 2 semanas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502920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esto cuesta dinero. Cuesta decidir.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66928" y="6199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DataRev — Data Revolution · Tú lideras la Revolución. Nosotros la hacemos realidad.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DataRev · Plan de crecimiento 10x</dc:title>
  <dc:subject>PptxGenJS Presentation</dc:subject>
  <dc:creator>DataRev</dc:creator>
  <cp:lastModifiedBy>DataRev</cp:lastModifiedBy>
  <cp:revision>1</cp:revision>
  <dcterms:created xsi:type="dcterms:W3CDTF">2026-08-06T06:32:58Z</dcterms:created>
  <dcterms:modified xsi:type="dcterms:W3CDTF">2026-08-06T06:32:58Z</dcterms:modified>
</cp:coreProperties>
</file>