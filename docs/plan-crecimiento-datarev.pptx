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relativo</c:v>
                </c:pt>
              </c:strCache>
            </c:strRef>
          </c:tx>
          <c:spPr>
            <a:solidFill>
              <a:srgbClr val="1763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Publicidad pagada</c:v>
                  </c:pt>
                  <c:pt idx="1">
                    <c:v>SEO / GEO</c:v>
                  </c:pt>
                  <c:pt idx="2">
                    <c:v>Video</c:v>
                  </c:pt>
                  <c:pt idx="3">
                    <c:v>Investigación original</c:v>
                  </c:pt>
                  <c:pt idx="4">
                    <c:v>Liderazgo de opinión</c:v>
                  </c:pt>
                  <c:pt idx="5">
                    <c:v>Conferencias y ferias</c:v>
                  </c:pt>
                  <c:pt idx="6">
                    <c:v>Eventos propios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24</c:v>
                </c:pt>
                <c:pt idx="1">
                  <c:v>62</c:v>
                </c:pt>
                <c:pt idx="2">
                  <c:v>70</c:v>
                </c:pt>
                <c:pt idx="3">
                  <c:v>82</c:v>
                </c:pt>
                <c:pt idx="4">
                  <c:v>88</c:v>
                </c:pt>
                <c:pt idx="5">
                  <c:v>96</c:v>
                </c:pt>
                <c:pt idx="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1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4081F"/>
        </a:solidFill>
        <a:ln>
          <a:noFill/>
        </a:ln>
        <a:effectLst/>
      </c:spPr>
    </c:plotArea>
    <c:plotVisOnly val="1"/>
    <c:dispBlanksAs val="span"/>
  </c:chart>
  <c:spPr>
    <a:solidFill>
      <a:srgbClr val="04081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de plan de crecimiento para DataRev. 15 laminas. La tesis central: el assessment no es motor de demanda, sino instrumento de investigacion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motor se agrego tras la observacion de Dante de que el analisis original lo subestimaba. Es correcto: estaba como una linea de la Fase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96596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· DATA REVOLUTION · AGOSTO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33172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crecimiento </a:t>
            </a:r>
            <a:pPr indent="0" marL="0">
              <a:buNone/>
            </a:pPr>
            <a:r>
              <a:rPr lang="en-US" sz="5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genera pipeline de verdad para una consultora boutique de datos e IA — y por qué el diagnóstico, solo, no lo va a hacer.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8638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revisadas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7588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9534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89534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firmas en el estudio base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78484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0430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00430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 propuestos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High Growth Study 2026 · XPX/Hinge Referral Study · Forrester · 6Sense · G2 · Wynter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supuestos que hay que confirmar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tengo su facturación actual ni el presupuesto disponible. Si alguno de estos supuestos está mal, cambian las cifras — no la estrategia.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21408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276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Etapa temprana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59689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opera desde ~mediados de 2026. El activo es la credibilidad del equipo, no una cartera existente.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44768" y="2121408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2512" y="2276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Presupuesto acotado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82512" y="259689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USD 5K/mes para adquisición en los primeros meses. El plan prioriza lo orgánico.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419856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35753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Restricción = demanda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04672" y="389534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cuello de botella es que no llegan suficientes prospectos, no la capacidad de entrega.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3419856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35753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Capacidad de entrega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82512" y="389534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socios senior pueden absorber 6–10 proyectos simultáneos antes de contratar.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901184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901184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2A1418"/>
          </a:solidFill>
          <a:ln w="15875">
            <a:solidFill>
              <a:srgbClr val="E667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10235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supuesto 3 es falso </a:t>
            </a:r>
            <a:pPr indent="0" marL="0">
              <a:buNone/>
            </a:pPr>
            <a:r>
              <a:rPr lang="en-US" sz="13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—si llegan prospectos y no cierran— este plan está mal ordenado: meter más leads arriba desperdiciaría dinero. Primero se arregla la conversión.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TESIS CONTRARIA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assessment </a:t>
            </a:r>
            <a:pPr indent="0" marL="0">
              <a:buNone/>
            </a:pPr>
            <a:r>
              <a:rPr lang="en-US" sz="3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el motor de demanda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intuición de que el diagnóstico traería clientes es razonable, pero la evidencia la contradice de forma bastante directa.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compradores B2B considera confiable el sitio web de un proveedor.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Buyer Behavior Report, 2024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79392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35424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 el boca en boca como el canal #1 que mete a un proveedor en la lista corta.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35424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Wynter, encuesta a CMOs B2B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91856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7888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47888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aporta la publicidad pagada. El outbound en frío, otro 2%.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Wynter, misma encuesta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6177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sobre las fuentes: 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que circulan de que los quizzes convierten al 42–79% vienen casi todas de vendedores de software de quizzes. No encontré ningún estudio independiente que las respalde para servicios de ticket alto. Trátenlas como marketing, no como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ENTONCES SÍ SIRVE, PERO PARA OTRA COSA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usos legítimos del diagnóstico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B1C57"/>
          </a:solidFill>
          <a:ln w="12700">
            <a:solidFill>
              <a:srgbClr val="2439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antes de la llamada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la primera conversación sabiendo el nivel de madurez acorta el ciclo y evita reuniones con quien no tiene presupuesto.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B1C57"/>
          </a:solidFill>
          <a:ln w="12700">
            <a:solidFill>
              <a:srgbClr val="2439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Excusa legítima para contactar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escribirle a toda la red sin que sea una venta: “te comparto un diagnóstico, dime si el resultado te hace sentido”.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47888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datos propios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diagnóstico contestado es un dato. 200 diagnósticos son un estudio que nadie más en México tiene. Ahí está el 10x.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4709160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original aparece entre las técnicas de mayor impacto del estudio Hinge 2026. 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ya construyó el instrumento para generarla — sólo lo estaba usando para lo que menos rinde.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HIGH GROWTH STUDY 2026 · 495 FIRMAS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usan las firmas que sí crecen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primera vez en 11 ediciones, organizar eventos propios encabeza la lista de impacto.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20240"/>
          <a:ext cx="11027664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relativo de impacto reportado en Hinge 2026. Las barras ilustran el ranking, no una escala numérica publicada.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ORDENA TODO LO DEMÁS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se gana </a:t>
            </a:r>
            <a:pPr indent="0" marL="0">
              <a:buNone/>
            </a:pPr>
            <a:r>
              <a:rPr lang="en-US" sz="3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RFP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95681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852928" y="20116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comités de compra arma y ordena su lista corta antes de contactar a cualquier proveedor.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852928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6Sense, 2025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7376" y="195681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430768" y="20116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veces gana el que quedó en primer lugar de esa lista.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30768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6Sense, 2025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38862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Forrester encontró además que el 92% de los compradores empieza con al menos un proveedor ya en mente. Cuando llega el RFP, la decisión está tomada en un 80%.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54880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97433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Implicación para DataRev: </a:t>
            </a:r>
            <a:pPr indent="0" marL="0">
              <a:buNone/>
            </a:pPr>
            <a:r>
              <a:rPr lang="en-US" sz="140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no es responder RFPs ni capturar leads. Es estar en la cabeza del comprador meses antes de que exista el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DOMINANTE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Referencias: el 60% del negocio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canal que más pesa — y casi nadie lo sistematiza.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8638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negocio llega por referencia para más de la mitad de los consultores.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5584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530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57530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clientes satisfechos está dispuesto a referir.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4476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36422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realmente lo hace. Ahí está la fuga.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3368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5314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27.4%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15314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 que dispara una referencia es expertise visible.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767328"/>
            <a:ext cx="11027664" cy="1572768"/>
          </a:xfrm>
          <a:prstGeom prst="roundRect">
            <a:avLst>
              <a:gd name="adj" fmla="val 581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395020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reciprocidad es medible: r = +0.72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334256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entre referencias hechas y recibidas. El participante promedio recibió 9 referencias en 6 meses; </a:t>
            </a:r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top 20% de los que más refieren recibió más de 24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Referir primero no es cortesía: es el mecanismo.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029200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XPX &amp; Hinge Referral Marketing Study · 262 participantes, 25.6% consultores · Texas Tech (83%/29%)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ARITMÉTICA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no sale de 10x más llamadas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de multiplicar dos factores modestos. Es la única forma realista con un equipo de cinco socios.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promedio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 + productización. El 57% de los especialistas cobra por valor, contra 29% de los generalistas.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35424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35424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clientes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35424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referencias + expertise visible + eventos. Sin equipo comercial grande.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91856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47888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10.5x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247888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18 meses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47888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retención y expansión de cuenta, el compuesto es mayor.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526280"/>
            <a:ext cx="11027664" cy="1207008"/>
          </a:xfrm>
          <a:prstGeom prst="roundRect">
            <a:avLst>
              <a:gd name="adj" fmla="val 757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7091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benchmark confirma dónde está la palanca: 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profesionales tiene la tasa de cierre más alta (28%) y el ciclo más corto (51 días) de todo B2B, pero la velocidad de pipeline más baja — por ticket promedio de USD 8,900. </a:t>
            </a:r>
            <a:pPr indent="0" marL="0">
              <a:buNone/>
            </a:pPr>
            <a:r>
              <a:rPr lang="en-US" sz="125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cerrar. Es el tamaño del trato.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motores, en este orden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048256" cy="2697480"/>
          </a:xfrm>
          <a:prstGeom prst="roundRect">
            <a:avLst>
              <a:gd name="adj" fmla="val 446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56816"/>
            <a:ext cx="420624" cy="420624"/>
          </a:xfrm>
          <a:prstGeom prst="ellipse">
            <a:avLst/>
          </a:prstGeom>
          <a:solidFill>
            <a:srgbClr val="1763F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20299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2505456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visible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8096" y="3127248"/>
            <a:ext cx="175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Google, Santander, Nemak, AB InBev. Está en un PDF, no en el mercado.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98064" y="1783080"/>
            <a:ext cx="2048256" cy="2697480"/>
          </a:xfrm>
          <a:prstGeom prst="roundRect">
            <a:avLst>
              <a:gd name="adj" fmla="val 446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99232" y="1956816"/>
            <a:ext cx="420624" cy="420624"/>
          </a:xfrm>
          <a:prstGeom prst="ellipse">
            <a:avLst/>
          </a:prstGeom>
          <a:solidFill>
            <a:srgbClr val="1763FF"/>
          </a:solidFill>
          <a:ln/>
        </p:spPr>
      </p:sp>
      <p:sp>
        <p:nvSpPr>
          <p:cNvPr id="11" name="Text 9"/>
          <p:cNvSpPr/>
          <p:nvPr/>
        </p:nvSpPr>
        <p:spPr>
          <a:xfrm>
            <a:off x="2999232" y="20299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99232" y="2505456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referencias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99232" y="3127248"/>
            <a:ext cx="175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explícito de pedir y dar. Cierra la fuga del 83% → 29%.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783080"/>
            <a:ext cx="2048256" cy="2697480"/>
          </a:xfrm>
          <a:prstGeom prst="roundRect">
            <a:avLst>
              <a:gd name="adj" fmla="val 446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0368" y="1956816"/>
            <a:ext cx="420624" cy="420624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20299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30368" y="2505456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cloud certificado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30368" y="3127248"/>
            <a:ext cx="175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Microsoft y Google asignan casos a socios certificados. Empieza ya, no en la Fase 3.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60336" y="1783080"/>
            <a:ext cx="2048256" cy="2697480"/>
          </a:xfrm>
          <a:prstGeom prst="roundRect">
            <a:avLst>
              <a:gd name="adj" fmla="val 446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61504" y="1956816"/>
            <a:ext cx="420624" cy="420624"/>
          </a:xfrm>
          <a:prstGeom prst="ellipse">
            <a:avLst/>
          </a:prstGeom>
          <a:solidFill>
            <a:srgbClr val="1763FF"/>
          </a:solidFill>
          <a:ln/>
        </p:spPr>
      </p:sp>
      <p:sp>
        <p:nvSpPr>
          <p:cNvPr id="21" name="Text 19"/>
          <p:cNvSpPr/>
          <p:nvPr/>
        </p:nvSpPr>
        <p:spPr>
          <a:xfrm>
            <a:off x="7461504" y="20299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61504" y="2505456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original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3127248"/>
            <a:ext cx="175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“Estado de la Madurez de Datos e IA en México”. El diagnóstico deja de ser lead magnet.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491472" y="1783080"/>
            <a:ext cx="2048256" cy="2697480"/>
          </a:xfrm>
          <a:prstGeom prst="roundRect">
            <a:avLst>
              <a:gd name="adj" fmla="val 446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92640" y="1956816"/>
            <a:ext cx="420624" cy="420624"/>
          </a:xfrm>
          <a:prstGeom prst="ellipse">
            <a:avLst/>
          </a:prstGeom>
          <a:solidFill>
            <a:srgbClr val="1763FF"/>
          </a:solidFill>
          <a:ln/>
        </p:spPr>
      </p:sp>
      <p:sp>
        <p:nvSpPr>
          <p:cNvPr id="26" name="Text 24"/>
          <p:cNvSpPr/>
          <p:nvPr/>
        </p:nvSpPr>
        <p:spPr>
          <a:xfrm>
            <a:off x="9692640" y="20299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92640" y="2505456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y producto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92640" y="3127248"/>
            <a:ext cx="175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empaquetadas con precio y alcance cerrados. Sube el ticket sin subir horas.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4800600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motores 1, 2 y 3 producen pipeline en semanas con muy poco presupuesto. Los motores 4 y 5 son los que convierten ese pipeline en 10x, pero tardan meses en madurar.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03 · EL CANAL QUE NO ES MARKETING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Certificarse hace que el proveedor </a:t>
            </a:r>
            <a:pPr indent="0" marL="0">
              <a:buNone/>
            </a:pPr>
            <a:r>
              <a:rPr lang="en-US" sz="3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asigne casos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Microsoft y Google tienen vendedores con cuota que necesitan socios certificados a quién referir la implementación. Estar en esa lista no se compra con pauta: se gana con certificaciones y casos entregados.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493008" cy="2286000"/>
          </a:xfrm>
          <a:prstGeom prst="roundRect">
            <a:avLst>
              <a:gd name="adj" fmla="val 400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042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— APN Customer Engagements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4672" y="3090672"/>
            <a:ext cx="30358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co-venta donde no sólo compartes oportunidades: recibes las que origina AWS. Tu actividad alimenta un co-sell score que decide qué tan visible eres para sus vendedores.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9392" y="2139696"/>
            <a:ext cx="3493008" cy="2286000"/>
          </a:xfrm>
          <a:prstGeom prst="roundRect">
            <a:avLst>
              <a:gd name="adj" fmla="val 4000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23042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17136" y="25786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Partner Data &amp; AI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7136" y="3090672"/>
            <a:ext cx="30358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 entrar, sin mínimo de facturación. 40 de los 100 puntos vienen de certificaciones — la parte que no depende de tener clientes todavía.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91856" y="2139696"/>
            <a:ext cx="3493008" cy="2286000"/>
          </a:xfrm>
          <a:prstGeom prst="roundRect">
            <a:avLst>
              <a:gd name="adj" fmla="val 4000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3042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257860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Network (nuevo, Q1 2026)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0" y="3090672"/>
            <a:ext cx="30358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originación del lado del proveedor es proporcionalmente más común que en AWS o Microsoft, sobre todo en cargas de datos e IA.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590288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77316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encaja: </a:t>
            </a:r>
            <a:pPr indent="0" marL="0"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canal que ataca directamente el hallazgo del 94% — estar en el directorio de socios y en el radar de los vendedores del hiperescalador </a:t>
            </a:r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literalmente estar en la lista corta antes de que exista el RFP.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03 · LO CONCRETO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Select está a semanas, no a años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64208"/>
          <a:ext cx="11027664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487168"/>
                <a:gridCol w="2487168"/>
                <a:gridCol w="2487168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AWS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 anual APN (USD)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Individuos acreditados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(2 téc + 2 neg)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 (4 + 4)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 (10 + 10)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Certificados fundacionales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Certificados técnicos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(mín 3 prof.)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 (mín 10 prof.)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Oportunidades lanzadas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(MRR ≥ 1,500)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 (MRR ≥ 10,000)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 (MRR ≥ 50,000)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Competencias AWS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426110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cinco socios que ya trabajan AWS a diario, el tier Select es cuestión de presentar exámenes. 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barrera real no son las certificaciones: son las 3 oportunidades lanzadas con MRR ≥ USD 1,500.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66928" y="4901184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2A1418"/>
          </a:solidFill>
          <a:ln w="15875">
            <a:solidFill>
              <a:srgbClr val="C985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5065776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trampa: </a:t>
            </a:r>
            <a:pPr indent="0" marL="0"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programas escalan con oportunidades cerradas, no con certificaciones. Las certificaciones abren la puerta; los tiers altos exigen negocio real. Es un motor de aceleración, no de arranque — corre en paralelo a las referencias, no en su lugar.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AWS Services Partner Tiers (aws.amazon.com/partners/services-tiers), consultado 6-ago-2026.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fases, 18 meses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46504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5" name="Text 3"/>
          <p:cNvSpPr/>
          <p:nvPr/>
        </p:nvSpPr>
        <p:spPr>
          <a:xfrm>
            <a:off x="950976" y="1691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· SEMANAS 1–4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50976" y="199339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un nicho declarado (recomendación: manufactura y consumo en México, donde el equipo ya tiene Nemak y AB InBev). Empaquetar 3 ofertas con precio cerrado. Publicar 3 casos con cifras. Instrumentar el CRM. Inscribirse a APN, MAICPP y Google Partner Network — los tres son gratis o baratos y el reloj de certificaciones empieza a correr.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880360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2549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MESES 2–4 · REFERENCIAS, VISIBILIDAD Y CERTIFICACIÓN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50976" y="312724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100 fuentes de referencia y rutina semanal de referir primero. Los 5 socios publicando en LinkedIn. Presentar exámenes: meta AWS Select y avanzar el Partner Capability Score de Microsoft. Registrar toda oportunidad en ACE desde el día uno.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014216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9593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MESES 4–8 · INVESTIGACIÓN, EVENTOS Y CO-VENTA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0976" y="426110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200+ diagnósticos y publicar el primer estudio de madurez de datos e IA en México. Presentarlo en un evento propio y en 3 conferencias. Activar co-venta con los vendedores de AWS y Microsoft en la plaza.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48072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" y="50932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MESES 8–18 · ESCALA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0976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SDR. Ir por AWS Advanced y una Advanced Specialization de Microsoft (desbloquea ECIF). Cuentas enterprise multi-año. Segunda edición del estudio.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dueño de qué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  <a:gridCol w="2651760"/>
                <a:gridCol w="179222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DUEÑO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APOYA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SEMANAL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Nicho, oferta y precio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 · 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 de referencias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 · 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 c/u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Expertise visible / LinkedIn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 · CPO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 c/u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madurez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Dante · CAIO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y conferencias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 · CPO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 cloud y certificaciones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 · 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(exámenes)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 + exámenes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Co-venta y registro en 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 · 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y calidad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Alejandro · COO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Métricas y CRM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Alejandro · COO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compromiso semanal es el costo real del plan. Si los socios no pueden sostener estas horas mientras entregan proyectos, hay que contratar antes — o recortar el alcance.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 lo crucial es gratis o casi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27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una consultora empezando: el plan no compromete gasto que no se pueda pagar con la facturación de hoy. Lo caro se deja en $0 hasta que haya tracción para pagarlo — no se elimina, se pospone.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956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· FASES 0–1 · LO CRUCIAL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534924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(tier gratis: HubSpot o Notion)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APN, MAICPP, Google Partner Network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Casos, ofertas y contenido LinkedIn (trabajo interno)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madurez: usa el diagnóstico ya construido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certificaciones fundacionales (2 AWS + 2 Azure)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660–1,320 · única vez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C5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61104"/>
            <a:ext cx="5349240" cy="786384"/>
          </a:xfrm>
          <a:prstGeom prst="roundRect">
            <a:avLst>
              <a:gd name="adj" fmla="val 11628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4370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~$0–100/mes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68096" y="479145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~$700–1,300 una sola vez, en exámenes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45352" y="19568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· SÓLO SI HAY TRACCIÓN · FASES 2–3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2231136"/>
          <a:ext cx="534924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DIFERIDO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 anual AWS APN, tier Select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 / año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propio (60–80 asistentes)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5,000–9,000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Conferencias de industria (3)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4,000–7,000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Pauta LinkedIn (retargeting del estudio)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1,000–2,500 /mes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SDR de tiempo completo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7B87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1,800–3,000 /mes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245352" y="4261104"/>
            <a:ext cx="5349240" cy="786384"/>
          </a:xfrm>
          <a:prstGeom prst="roundRect">
            <a:avLst>
              <a:gd name="adj" fmla="val 1162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46520" y="4370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hoy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446520" y="47914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 por hito, no por calendario — ver siguiente lámina.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66928" y="5230368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41248" y="5394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esto es estratégico, no sólo barato: </a:t>
            </a:r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estudio, el evento y el SDR sólo generan retorno si ya hay expertise visible, referencias y casos certificados detrás. Gastar en eso antes sería pagar por audiencia que la consultora todavía no puede atender ni convertir.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se activa cada gasto diferido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partida se paga la primera vez que el hito que la justifica ya existe — nunca antes.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2766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272784"/>
                <a:gridCol w="2011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ACTIVA CUANDO...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 AWS APN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 3 oportunidades lanzadas con MRR ≥ USD 1,500 (requisito del propio tier)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2,500/año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propio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estudio de madurez tiene 150+ respuestas listas para presentar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5,000–9,000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Conferencias de industria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 3 casos publicables con cifras para mostrar en el stand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4,000–7,000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Pauta LinkedIn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estudio ya está publicado y hay algo que promocionar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1,000–2,500/mes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SDR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pipeline de referencias + partner cloud supera lo que los socios atienden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1,800–3,000/mes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394960"/>
            <a:ext cx="11027664" cy="822960"/>
          </a:xfrm>
          <a:prstGeom prst="roundRect">
            <a:avLst>
              <a:gd name="adj" fmla="val 11111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555955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compromete por calendario. </a:t>
            </a:r>
            <a:pPr indent="0" marL="0"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hito no se cumple, el gasto correspondiente sigue en $0 — el plan no obliga a gastar para "cumplir la Fase 2", obliga a ganarse el derecho a gastar.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Hinge 2026: las firmas de alto crecimiento invierten 12% de su facturación en marketing — aplicable una vez que exista facturación que medir.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SABREMOS SI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y puntos de decisión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965960"/>
                <a:gridCol w="1965960"/>
                <a:gridCol w="19751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 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Conversaciones calificadas / 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Referencias recibidas / semestre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promedio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de pipeline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Origen: referencia o 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Certificaciones cloud del equipo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Oportunidades registradas en 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referidos por el hiperescalador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45152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" y="482803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decisión, mes 6: </a:t>
            </a:r>
            <a:pPr indent="0" marL="0">
              <a:buNone/>
            </a:pPr>
            <a:r>
              <a:rPr lang="en-US" sz="130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las referencias recibidas no llegaron a 9 por semestre, el problema no es de canal sino de entrega o posicionamiento. Parar la inversión en Fase 2 y arreglar eso primero.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“hoy” están vacíos a propósito: hay que llenarlos con datos reales de DataRev antes de comprometer presupuesto.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puede salir mal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47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socios no sostienen las horas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29514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riesgo número uno. Cuando entra un proyecto, marketing es lo primero que se cae.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en calendario tratados como entregable de cliente, y una sola persona (Ernesto) con autoridad para exigirlos.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47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 más rápido de lo que se entrega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229514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en ventas sin equipo destruye la reputación — y la reputación es el canal.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0" y="288036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abrir Fase 3 hasta tener banca de consultores o socios de entrega.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867912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325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nicho elegido es muy chico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379976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Especializarse sube el precio pero reduce el mercado direccionable.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965192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por problema (gobierno del dato, agentes en operación), no sólo por industria.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4768" y="3867912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0325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 no levanta muestra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4379976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150–200 respuestas no hay estudio publicable.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4965192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Comprometer la muestra vía aliados —cámaras industriales, AWS, universidades— antes de anunciarlo.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PRÓXIMOS 14 DÍAS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el lunes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Llenar los números vacíos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actual, ticket promedio, número de clientes, origen de cada uno. Sin esto, “10x” es una consigna.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· 2 días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44768" y="1737360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Declarar el nicho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219456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frase que diga a quién sirven y qué problema resuelven. Someterla a 5 clientes potenciales.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0" y="27797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· 1 semana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310128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Lista de 100 referidores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67328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colegas de Amazon, Google, Santander, Nemak, AB InBev. Empezar refiriendo ustedes primero.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3525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· 1 semana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4768" y="3310128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Inscribirse a los tres programas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3767328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APN de AWS, MAICPP de Microsoft y Google Partner Network. Dos son gratis. Agendar los primeros exámenes.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43525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Alonso · 1 semana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02920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Sólo uno de los cuatro cuesta dinero. Los otros tres cuestan decidir.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— Data Revolution · Tú lideras la Revolución. Nosotros la hacemos realidad.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DataRev · Plan de crecimiento 10x</dc:title>
  <dc:subject>PptxGenJS Presentation</dc:subject>
  <dc:creator>DataRev</dc:creator>
  <cp:lastModifiedBy>DataRev</cp:lastModifiedBy>
  <cp:revision>1</cp:revision>
  <dcterms:created xsi:type="dcterms:W3CDTF">2026-08-06T18:50:46Z</dcterms:created>
  <dcterms:modified xsi:type="dcterms:W3CDTF">2026-08-06T18:50:46Z</dcterms:modified>
</cp:coreProperties>
</file>